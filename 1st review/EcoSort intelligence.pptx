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81" r:id="rId3"/>
    <p:sldId id="257" r:id="rId4"/>
    <p:sldId id="258" r:id="rId5"/>
    <p:sldId id="259" r:id="rId6"/>
    <p:sldId id="273" r:id="rId7"/>
    <p:sldId id="267" r:id="rId8"/>
    <p:sldId id="274" r:id="rId9"/>
    <p:sldId id="268" r:id="rId10"/>
    <p:sldId id="282" r:id="rId11"/>
    <p:sldId id="266" r:id="rId12"/>
    <p:sldId id="270" r:id="rId13"/>
    <p:sldId id="280" r:id="rId14"/>
    <p:sldId id="271" r:id="rId15"/>
    <p:sldId id="269" r:id="rId16"/>
    <p:sldId id="262" r:id="rId17"/>
    <p:sldId id="265" r:id="rId18"/>
  </p:sldIdLst>
  <p:sldSz cx="9144000" cy="5143500" type="screen16x9"/>
  <p:notesSz cx="6858000" cy="9144000"/>
  <p:embeddedFontLst>
    <p:embeddedFont>
      <p:font typeface="Comfortaa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2E5AC8-D1FD-4F38-99A3-E05809E0F263}">
  <a:tblStyle styleId="{962E5AC8-D1FD-4F38-99A3-E05809E0F2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459" y="3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9630aa68a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9630aa68a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9630aa68a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9630aa68a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630aa68a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9630aa68a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1E5FC426-81D9-367B-0F92-B0F57C0BF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630aa68a5_0_7:notes">
            <a:extLst>
              <a:ext uri="{FF2B5EF4-FFF2-40B4-BE49-F238E27FC236}">
                <a16:creationId xmlns:a16="http://schemas.microsoft.com/office/drawing/2014/main" id="{5E3664B1-8E6E-9EC1-FB85-40C6DE698E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9630aa68a5_0_7:notes">
            <a:extLst>
              <a:ext uri="{FF2B5EF4-FFF2-40B4-BE49-F238E27FC236}">
                <a16:creationId xmlns:a16="http://schemas.microsoft.com/office/drawing/2014/main" id="{BE0281D7-3F87-FD3B-5A55-BDB7FF187E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5127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070F98FE-2F0E-F01A-8DEF-7130429B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630aa68a5_0_7:notes">
            <a:extLst>
              <a:ext uri="{FF2B5EF4-FFF2-40B4-BE49-F238E27FC236}">
                <a16:creationId xmlns:a16="http://schemas.microsoft.com/office/drawing/2014/main" id="{98589169-5B07-A14F-E31C-362D185821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9630aa68a5_0_7:notes">
            <a:extLst>
              <a:ext uri="{FF2B5EF4-FFF2-40B4-BE49-F238E27FC236}">
                <a16:creationId xmlns:a16="http://schemas.microsoft.com/office/drawing/2014/main" id="{E7F9F75C-3E4D-282F-6343-7E5DF66D5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8369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FF0CF1E1-7616-67EC-F2EC-2E3848CC8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630aa68a5_0_7:notes">
            <a:extLst>
              <a:ext uri="{FF2B5EF4-FFF2-40B4-BE49-F238E27FC236}">
                <a16:creationId xmlns:a16="http://schemas.microsoft.com/office/drawing/2014/main" id="{C80C53FE-3E63-D3DC-8F87-3FBC063563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9630aa68a5_0_7:notes">
            <a:extLst>
              <a:ext uri="{FF2B5EF4-FFF2-40B4-BE49-F238E27FC236}">
                <a16:creationId xmlns:a16="http://schemas.microsoft.com/office/drawing/2014/main" id="{D23BB22F-1BCF-C733-98CA-AB4E2D098B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087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772CC8DF-26F6-AF0E-2756-8465B96D8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630aa68a5_0_7:notes">
            <a:extLst>
              <a:ext uri="{FF2B5EF4-FFF2-40B4-BE49-F238E27FC236}">
                <a16:creationId xmlns:a16="http://schemas.microsoft.com/office/drawing/2014/main" id="{93AEC5DD-8AE6-6EDF-56FF-9B22D330F4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9630aa68a5_0_7:notes">
            <a:extLst>
              <a:ext uri="{FF2B5EF4-FFF2-40B4-BE49-F238E27FC236}">
                <a16:creationId xmlns:a16="http://schemas.microsoft.com/office/drawing/2014/main" id="{5342351C-0284-5897-4936-4A30A2522A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8268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9537307B-0B70-9480-248C-A5E9BB6D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630aa68a5_0_7:notes">
            <a:extLst>
              <a:ext uri="{FF2B5EF4-FFF2-40B4-BE49-F238E27FC236}">
                <a16:creationId xmlns:a16="http://schemas.microsoft.com/office/drawing/2014/main" id="{37B8D534-7BC4-E83A-9A21-2378A9AC5E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9630aa68a5_0_7:notes">
            <a:extLst>
              <a:ext uri="{FF2B5EF4-FFF2-40B4-BE49-F238E27FC236}">
                <a16:creationId xmlns:a16="http://schemas.microsoft.com/office/drawing/2014/main" id="{74EB3D4B-39E6-C0C1-649C-F1EBDE1E58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331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22545F65-D800-57E1-8818-75C96F497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630aa68a5_0_7:notes">
            <a:extLst>
              <a:ext uri="{FF2B5EF4-FFF2-40B4-BE49-F238E27FC236}">
                <a16:creationId xmlns:a16="http://schemas.microsoft.com/office/drawing/2014/main" id="{4852FE19-A5BC-F9A5-C893-9027DE451D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9630aa68a5_0_7:notes">
            <a:extLst>
              <a:ext uri="{FF2B5EF4-FFF2-40B4-BE49-F238E27FC236}">
                <a16:creationId xmlns:a16="http://schemas.microsoft.com/office/drawing/2014/main" id="{F132E194-81AF-461A-951D-D8B93119D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202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64E70CFD-B96D-A24F-CE01-8EA695F7A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630aa68a5_0_7:notes">
            <a:extLst>
              <a:ext uri="{FF2B5EF4-FFF2-40B4-BE49-F238E27FC236}">
                <a16:creationId xmlns:a16="http://schemas.microsoft.com/office/drawing/2014/main" id="{7E247720-176B-6152-65A3-AA34384D89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9630aa68a5_0_7:notes">
            <a:extLst>
              <a:ext uri="{FF2B5EF4-FFF2-40B4-BE49-F238E27FC236}">
                <a16:creationId xmlns:a16="http://schemas.microsoft.com/office/drawing/2014/main" id="{10F14994-9809-97A7-5E44-A2D3B86AC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3325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F2D7A706-22F4-A697-DE88-8EF68CCC3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630aa68a5_0_7:notes">
            <a:extLst>
              <a:ext uri="{FF2B5EF4-FFF2-40B4-BE49-F238E27FC236}">
                <a16:creationId xmlns:a16="http://schemas.microsoft.com/office/drawing/2014/main" id="{9B1D906A-B5D5-DE18-79B8-7B56F4A7F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9630aa68a5_0_7:notes">
            <a:extLst>
              <a:ext uri="{FF2B5EF4-FFF2-40B4-BE49-F238E27FC236}">
                <a16:creationId xmlns:a16="http://schemas.microsoft.com/office/drawing/2014/main" id="{47C2D214-5724-5187-754A-2A5B466C54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3413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8517A454-A4CF-7B56-B3B9-5D8DD24AC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630aa68a5_0_7:notes">
            <a:extLst>
              <a:ext uri="{FF2B5EF4-FFF2-40B4-BE49-F238E27FC236}">
                <a16:creationId xmlns:a16="http://schemas.microsoft.com/office/drawing/2014/main" id="{76377776-9B13-E3CC-4DEA-38021A6D1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9630aa68a5_0_7:notes">
            <a:extLst>
              <a:ext uri="{FF2B5EF4-FFF2-40B4-BE49-F238E27FC236}">
                <a16:creationId xmlns:a16="http://schemas.microsoft.com/office/drawing/2014/main" id="{24EC403B-20A8-E9A8-57E6-5EB767E746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5440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9630aa68a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9630aa68a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B21C3235-5C85-200E-7C63-B111071C2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9630aa68a5_0_35:notes">
            <a:extLst>
              <a:ext uri="{FF2B5EF4-FFF2-40B4-BE49-F238E27FC236}">
                <a16:creationId xmlns:a16="http://schemas.microsoft.com/office/drawing/2014/main" id="{FF9C49F0-3A78-D7FE-DA0B-28AAE6D6F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9630aa68a5_0_35:notes">
            <a:extLst>
              <a:ext uri="{FF2B5EF4-FFF2-40B4-BE49-F238E27FC236}">
                <a16:creationId xmlns:a16="http://schemas.microsoft.com/office/drawing/2014/main" id="{7D23F5F5-42C1-FA25-ED8F-303D6DD66C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0091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483690" y="1372713"/>
            <a:ext cx="8281737" cy="775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/>
            <a:r>
              <a:rPr lang="en-IN" sz="2400" b="1" dirty="0" err="1" smtClean="0">
                <a:latin typeface="Comfortaa" panose="020B0604020202020204" charset="0"/>
                <a:ea typeface="Comfortaa"/>
                <a:cs typeface="Comfortaa"/>
                <a:sym typeface="Comfortaa"/>
              </a:rPr>
              <a:t>EcoSort</a:t>
            </a:r>
            <a:r>
              <a:rPr lang="en-IN" sz="2400" b="1" dirty="0" smtClean="0">
                <a:latin typeface="Comfortaa" panose="020B0604020202020204" charset="0"/>
                <a:ea typeface="Comfortaa"/>
                <a:cs typeface="Comfortaa"/>
                <a:sym typeface="Comfortaa"/>
              </a:rPr>
              <a:t> </a:t>
            </a:r>
            <a:r>
              <a:rPr lang="en-IN" sz="2400" b="1" dirty="0">
                <a:latin typeface="Comfortaa" panose="020B0604020202020204" charset="0"/>
                <a:ea typeface="Comfortaa"/>
                <a:cs typeface="Comfortaa"/>
                <a:sym typeface="Comfortaa"/>
              </a:rPr>
              <a:t>Intelligence: Smart E-Waste Classification &amp; Economic Optimizer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701300" y="2571750"/>
            <a:ext cx="4007400" cy="16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Comfortaa"/>
                <a:ea typeface="Comfortaa"/>
                <a:cs typeface="Comfortaa"/>
                <a:sym typeface="Comfortaa"/>
              </a:rPr>
              <a:t>Name of students:</a:t>
            </a:r>
            <a:endParaRPr sz="1600" b="1" dirty="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 smtClean="0">
                <a:latin typeface="Comfortaa"/>
                <a:ea typeface="Comfortaa"/>
                <a:cs typeface="Comfortaa"/>
                <a:sym typeface="Comfortaa"/>
              </a:rPr>
              <a:t>Akshay </a:t>
            </a:r>
            <a:r>
              <a:rPr lang="en-GB" sz="1600" dirty="0" err="1" smtClean="0">
                <a:latin typeface="Comfortaa"/>
                <a:ea typeface="Comfortaa"/>
                <a:cs typeface="Comfortaa"/>
                <a:sym typeface="Comfortaa"/>
              </a:rPr>
              <a:t>Prashad</a:t>
            </a:r>
            <a:r>
              <a:rPr lang="en-GB" sz="1600" dirty="0" smtClean="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GB" sz="1600" dirty="0">
                <a:latin typeface="Comfortaa"/>
                <a:ea typeface="Comfortaa"/>
                <a:cs typeface="Comfortaa"/>
                <a:sym typeface="Comfortaa"/>
              </a:rPr>
              <a:t>: </a:t>
            </a:r>
            <a:r>
              <a:rPr lang="en-GB" sz="1600" dirty="0" smtClean="0">
                <a:latin typeface="Comfortaa"/>
                <a:ea typeface="Comfortaa"/>
                <a:cs typeface="Comfortaa"/>
                <a:sym typeface="Comfortaa"/>
              </a:rPr>
              <a:t>210171601007</a:t>
            </a:r>
            <a:endParaRPr sz="1600" dirty="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 smtClean="0">
                <a:latin typeface="Comfortaa"/>
                <a:ea typeface="Comfortaa"/>
                <a:cs typeface="Comfortaa"/>
                <a:sym typeface="Comfortaa"/>
              </a:rPr>
              <a:t>Kamal V: 210171601021  </a:t>
            </a:r>
            <a:endParaRPr sz="1600" dirty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5093425" y="2571750"/>
            <a:ext cx="3622800" cy="12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Comfortaa"/>
                <a:ea typeface="Comfortaa"/>
                <a:cs typeface="Comfortaa"/>
                <a:sym typeface="Comfortaa"/>
              </a:rPr>
              <a:t>Supervisor:</a:t>
            </a:r>
            <a:endParaRPr sz="1600" b="1" dirty="0">
              <a:latin typeface="Comfortaa"/>
              <a:ea typeface="Comfortaa"/>
              <a:cs typeface="Comfortaa"/>
              <a:sym typeface="Comfortaa"/>
            </a:endParaRPr>
          </a:p>
          <a:p>
            <a:endParaRPr lang="en-US" sz="1600" dirty="0">
              <a:latin typeface="Comfortaa"/>
              <a:sym typeface="Comfortaa"/>
            </a:endParaRPr>
          </a:p>
          <a:p>
            <a:r>
              <a:rPr lang="en-US" sz="1600" dirty="0" smtClean="0"/>
              <a:t>Dr</a:t>
            </a:r>
            <a:r>
              <a:rPr lang="en-US" sz="1600" dirty="0"/>
              <a:t>. </a:t>
            </a:r>
            <a:r>
              <a:rPr lang="en-US" sz="1600" dirty="0" err="1" smtClean="0"/>
              <a:t>S.P.Valli</a:t>
            </a:r>
            <a:r>
              <a:rPr lang="en-US" sz="1600" dirty="0" smtClean="0"/>
              <a:t> </a:t>
            </a:r>
            <a:r>
              <a:rPr lang="en-US" sz="1600" dirty="0"/>
              <a:t> </a:t>
            </a:r>
            <a:r>
              <a:rPr lang="en-US" sz="1600" dirty="0" smtClean="0"/>
              <a:t> Associate </a:t>
            </a:r>
            <a:r>
              <a:rPr lang="en-US" sz="1600" dirty="0"/>
              <a:t>Professor</a:t>
            </a:r>
          </a:p>
          <a:p>
            <a:endParaRPr lang="en-US" sz="16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79100" y="4184550"/>
            <a:ext cx="82371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latin typeface="Comfortaa"/>
                <a:ea typeface="Comfortaa"/>
                <a:cs typeface="Comfortaa"/>
                <a:sym typeface="Comfortaa"/>
              </a:rPr>
              <a:t>Domain of project :</a:t>
            </a:r>
            <a:r>
              <a:rPr lang="en-GB" sz="2000" dirty="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GB" sz="2000" dirty="0" smtClean="0">
                <a:latin typeface="Comfortaa"/>
                <a:ea typeface="Comfortaa"/>
                <a:cs typeface="Comfortaa"/>
                <a:sym typeface="Comfortaa"/>
              </a:rPr>
              <a:t>Artificial </a:t>
            </a:r>
            <a:r>
              <a:rPr lang="en-GB" sz="2000" dirty="0">
                <a:latin typeface="Comfortaa"/>
                <a:ea typeface="Comfortaa"/>
                <a:cs typeface="Comfortaa"/>
                <a:sym typeface="Comfortaa"/>
              </a:rPr>
              <a:t>Intelligence</a:t>
            </a:r>
            <a:endParaRPr sz="2000" dirty="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2303100" y="-12"/>
            <a:ext cx="45378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sz="1100" b="1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672124"/>
            <a:ext cx="8520600" cy="4360984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sz="2600" b="1" dirty="0" err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EcoSort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Intelligence: Smart E-Waste Classification &amp; Economic Optimizer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14300" indent="0"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EcoSort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is an innovative framework that leverages deep learning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automated, accurate classification of e-waste components and market basket analysis (MBA) to predict the economic viability of recycling versus reuse.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resource recovery and prioritizing high-yield component clusters, it enhances sustainability, reduces environmental impact, and maximizes profitability in e-waste management.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4" name="Google Shape;68;p14"/>
          <p:cNvSpPr txBox="1">
            <a:spLocks/>
          </p:cNvSpPr>
          <p:nvPr/>
        </p:nvSpPr>
        <p:spPr>
          <a:xfrm>
            <a:off x="2303100" y="62511"/>
            <a:ext cx="45378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en-US" sz="1100" b="1" smtClean="0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lang="en-US" sz="11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5" name="Google Shape;6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68804" y="99292"/>
            <a:ext cx="2073075" cy="535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9815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>
            <a:spLocks noGrp="1"/>
          </p:cNvSpPr>
          <p:nvPr>
            <p:ph type="subTitle" idx="4294967295"/>
          </p:nvPr>
        </p:nvSpPr>
        <p:spPr>
          <a:xfrm>
            <a:off x="2830025" y="4713000"/>
            <a:ext cx="3327000" cy="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 dirty="0">
                <a:latin typeface="Comfortaa"/>
                <a:ea typeface="Comfortaa"/>
                <a:cs typeface="Comfortaa"/>
                <a:sym typeface="Comfortaa"/>
              </a:rPr>
              <a:t>ZETA</a:t>
            </a:r>
            <a:endParaRPr sz="11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4294967295"/>
          </p:nvPr>
        </p:nvSpPr>
        <p:spPr>
          <a:xfrm>
            <a:off x="2303100" y="-12"/>
            <a:ext cx="45378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 dirty="0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sz="11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9" name="Google Shape;69;p14"/>
          <p:cNvSpPr txBox="1">
            <a:spLocks noGrp="1"/>
          </p:cNvSpPr>
          <p:nvPr>
            <p:ph type="subTitle" idx="4294967295"/>
          </p:nvPr>
        </p:nvSpPr>
        <p:spPr>
          <a:xfrm>
            <a:off x="217075" y="177767"/>
            <a:ext cx="4636500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dirty="0">
                <a:latin typeface="Comfortaa"/>
                <a:ea typeface="Comfortaa"/>
                <a:cs typeface="Comfortaa"/>
                <a:sym typeface="Comfortaa"/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349363" y="4786685"/>
            <a:ext cx="270345" cy="1113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11904" y="1137512"/>
            <a:ext cx="8720191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Component Classification:</a:t>
            </a:r>
            <a:r>
              <a:rPr lang="en-US" sz="2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deep learning models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accurately identify and count laptop parts, streamlining e-waste sorting.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 (MBA):</a:t>
            </a:r>
            <a:r>
              <a:rPr lang="en-US" sz="2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historical data to uncover component co-occurrence patterns and predict recycling vs. reuse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</a:t>
            </a:r>
            <a:r>
              <a:rPr lang="en-US" sz="20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Descriptive </a:t>
            </a:r>
            <a:r>
              <a:rPr lang="en-US" sz="20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Modeling:</a:t>
            </a:r>
            <a:r>
              <a:rPr lang="en-US" sz="2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costs, market values, and conditions to determine the most profitable processing strategy for e-waste.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&amp; Circular Economy: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Promotes resource recovery and reduces environmental impact by optimizing high-yield component clusters and advancing sustainable e-waste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>
            <a:spLocks noGrp="1"/>
          </p:cNvSpPr>
          <p:nvPr>
            <p:ph type="subTitle" idx="4294967295"/>
          </p:nvPr>
        </p:nvSpPr>
        <p:spPr>
          <a:xfrm>
            <a:off x="2830025" y="4713000"/>
            <a:ext cx="3327000" cy="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 dirty="0">
                <a:latin typeface="Comfortaa"/>
                <a:ea typeface="Comfortaa"/>
                <a:cs typeface="Comfortaa"/>
                <a:sym typeface="Comfortaa"/>
              </a:rPr>
              <a:t>ZETA</a:t>
            </a:r>
            <a:endParaRPr sz="11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subTitle" idx="4294967295"/>
          </p:nvPr>
        </p:nvSpPr>
        <p:spPr>
          <a:xfrm>
            <a:off x="2303100" y="-12"/>
            <a:ext cx="45378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sz="11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subTitle" idx="4294967295"/>
          </p:nvPr>
        </p:nvSpPr>
        <p:spPr>
          <a:xfrm>
            <a:off x="217074" y="350700"/>
            <a:ext cx="5574125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dirty="0">
                <a:latin typeface="Comfortaa"/>
                <a:ea typeface="Comfortaa"/>
                <a:cs typeface="Comfortaa"/>
                <a:sym typeface="Comfortaa"/>
              </a:rPr>
              <a:t>Existing and proposed work</a:t>
            </a:r>
            <a:endParaRPr sz="28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521162"/>
              </p:ext>
            </p:extLst>
          </p:nvPr>
        </p:nvGraphicFramePr>
        <p:xfrm>
          <a:off x="390769" y="1152525"/>
          <a:ext cx="7667145" cy="3416300"/>
        </p:xfrm>
        <a:graphic>
          <a:graphicData uri="http://schemas.openxmlformats.org/drawingml/2006/table">
            <a:tbl>
              <a:tblPr firstRow="1" firstCol="1">
                <a:tableStyleId>{073A0DAA-6AF3-43AB-8588-CEC1D06C72B9}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951013605"/>
                    </a:ext>
                  </a:extLst>
                </a:gridCol>
                <a:gridCol w="2665046">
                  <a:extLst>
                    <a:ext uri="{9D8B030D-6E8A-4147-A177-3AD203B41FA5}">
                      <a16:colId xmlns:a16="http://schemas.microsoft.com/office/drawing/2014/main" val="2967412799"/>
                    </a:ext>
                  </a:extLst>
                </a:gridCol>
                <a:gridCol w="3579699">
                  <a:extLst>
                    <a:ext uri="{9D8B030D-6E8A-4147-A177-3AD203B41FA5}">
                      <a16:colId xmlns:a16="http://schemas.microsoft.com/office/drawing/2014/main" val="3324742604"/>
                    </a:ext>
                  </a:extLst>
                </a:gridCol>
              </a:tblGrid>
              <a:tr h="24936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marL="74809" marR="74809" marT="37405" marB="37405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Work</a:t>
                      </a:r>
                    </a:p>
                  </a:txBody>
                  <a:tcPr marL="74809" marR="74809" marT="37405" marB="37405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Work</a:t>
                      </a:r>
                    </a:p>
                  </a:txBody>
                  <a:tcPr marL="74809" marR="74809" marT="37405" marB="37405" anchor="ctr"/>
                </a:tc>
                <a:extLst>
                  <a:ext uri="{0D108BD9-81ED-4DB2-BD59-A6C34878D82A}">
                    <a16:rowId xmlns:a16="http://schemas.microsoft.com/office/drawing/2014/main" val="3651969533"/>
                  </a:ext>
                </a:extLst>
              </a:tr>
              <a:tr h="598476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Techniques</a:t>
                      </a:r>
                    </a:p>
                  </a:txBody>
                  <a:tcPr marL="74809" marR="74809" marT="37405" marB="37405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Various models like CNNs,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AlexNet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Inception, and hybrid transfer learning</a:t>
                      </a:r>
                    </a:p>
                  </a:txBody>
                  <a:tcPr marL="74809" marR="74809" marT="37405" marB="37405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with ResNet and EfficientNet for precise classification</a:t>
                      </a:r>
                    </a:p>
                  </a:txBody>
                  <a:tcPr marL="74809" marR="74809" marT="37405" marB="37405" anchor="ctr"/>
                </a:tc>
                <a:extLst>
                  <a:ext uri="{0D108BD9-81ED-4DB2-BD59-A6C34878D82A}">
                    <a16:rowId xmlns:a16="http://schemas.microsoft.com/office/drawing/2014/main" val="2069064252"/>
                  </a:ext>
                </a:extLst>
              </a:tr>
              <a:tr h="598476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Focus</a:t>
                      </a:r>
                    </a:p>
                  </a:txBody>
                  <a:tcPr marL="74809" marR="74809" marT="37405" marB="37405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E-waste classification and sorting, waste generation prediction</a:t>
                      </a:r>
                    </a:p>
                  </a:txBody>
                  <a:tcPr marL="74809" marR="74809" marT="37405" marB="37405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Basket Analysis (MBA) </a:t>
                      </a:r>
                      <a:r>
                        <a:rPr lang="en-US" sz="1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profits for 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economic </a:t>
                      </a:r>
                      <a:r>
                        <a:rPr lang="en-US" sz="1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feasibility of</a:t>
                      </a:r>
                      <a:r>
                        <a:rPr lang="en-US" sz="11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E- Waste companies</a:t>
                      </a:r>
                      <a:r>
                        <a:rPr lang="en-US" sz="1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 recycling vs. reuse</a:t>
                      </a:r>
                    </a:p>
                  </a:txBody>
                  <a:tcPr marL="74809" marR="74809" marT="37405" marB="37405" anchor="ctr"/>
                </a:tc>
                <a:extLst>
                  <a:ext uri="{0D108BD9-81ED-4DB2-BD59-A6C34878D82A}">
                    <a16:rowId xmlns:a16="http://schemas.microsoft.com/office/drawing/2014/main" val="3420266973"/>
                  </a:ext>
                </a:extLst>
              </a:tr>
              <a:tr h="598476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74809" marR="74809" marT="37405" marB="37405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 achieve accuracy between 83% to 99.1</a:t>
                      </a:r>
                      <a:r>
                        <a:rPr lang="en-US" sz="1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in different use-cases</a:t>
                      </a:r>
                      <a:r>
                        <a:rPr lang="en-US" sz="11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(Smart Phone classification, Electrical Screwdrivers etc.)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809" marR="74809" marT="37405" marB="37405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</a:t>
                      </a:r>
                      <a:r>
                        <a:rPr lang="en-US" sz="11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has both</a:t>
                      </a:r>
                      <a:r>
                        <a:rPr lang="en-US" sz="1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</a:t>
                      </a:r>
                      <a:r>
                        <a:rPr lang="en-US" sz="1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(Pc components) 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MBA for optimal component clustering and decision-making</a:t>
                      </a:r>
                    </a:p>
                  </a:txBody>
                  <a:tcPr marL="74809" marR="74809" marT="37405" marB="37405" anchor="ctr"/>
                </a:tc>
                <a:extLst>
                  <a:ext uri="{0D108BD9-81ED-4DB2-BD59-A6C34878D82A}">
                    <a16:rowId xmlns:a16="http://schemas.microsoft.com/office/drawing/2014/main" val="704598975"/>
                  </a:ext>
                </a:extLst>
              </a:tr>
              <a:tr h="598476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Sustainability</a:t>
                      </a:r>
                    </a:p>
                  </a:txBody>
                  <a:tcPr marL="74809" marR="74809" marT="37405" marB="37405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Emphasizes automation for efficiency and AI-driven classification</a:t>
                      </a:r>
                    </a:p>
                  </a:txBody>
                  <a:tcPr marL="74809" marR="74809" marT="37405" marB="37405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Optimizes e-waste processing by prioritizing high-yield clusters, promoting cost-effectiveness</a:t>
                      </a:r>
                    </a:p>
                  </a:txBody>
                  <a:tcPr marL="74809" marR="74809" marT="37405" marB="37405" anchor="ctr"/>
                </a:tc>
                <a:extLst>
                  <a:ext uri="{0D108BD9-81ED-4DB2-BD59-A6C34878D82A}">
                    <a16:rowId xmlns:a16="http://schemas.microsoft.com/office/drawing/2014/main" val="2826376877"/>
                  </a:ext>
                </a:extLst>
              </a:tr>
              <a:tr h="773031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Circular Economy</a:t>
                      </a:r>
                    </a:p>
                  </a:txBody>
                  <a:tcPr marL="74809" marR="74809" marT="37405" marB="37405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AI for better e-waste identification and sorting</a:t>
                      </a:r>
                    </a:p>
                  </a:txBody>
                  <a:tcPr marL="74809" marR="74809" marT="37405" marB="37405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Advances circular economy with integrated component classification and predictive analytics</a:t>
                      </a:r>
                    </a:p>
                  </a:txBody>
                  <a:tcPr marL="74809" marR="74809" marT="37405" marB="37405" anchor="ctr"/>
                </a:tc>
                <a:extLst>
                  <a:ext uri="{0D108BD9-81ED-4DB2-BD59-A6C34878D82A}">
                    <a16:rowId xmlns:a16="http://schemas.microsoft.com/office/drawing/2014/main" val="1052704949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349363" y="4786685"/>
            <a:ext cx="270345" cy="1113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subTitle" idx="4294967295"/>
          </p:nvPr>
        </p:nvSpPr>
        <p:spPr>
          <a:xfrm>
            <a:off x="323850" y="150888"/>
            <a:ext cx="1200150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dirty="0">
                <a:latin typeface="Comfortaa"/>
                <a:ea typeface="Comfortaa"/>
                <a:cs typeface="Comfortaa"/>
                <a:sym typeface="Comfortaa"/>
              </a:rPr>
              <a:t>IPO</a:t>
            </a:r>
            <a:endParaRPr sz="28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>
            <a:spLocks noGrp="1"/>
          </p:cNvSpPr>
          <p:nvPr>
            <p:ph type="subTitle" idx="4294967295"/>
          </p:nvPr>
        </p:nvSpPr>
        <p:spPr>
          <a:xfrm>
            <a:off x="2303100" y="-12"/>
            <a:ext cx="45378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sz="11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2BBD87-395F-025B-27C7-769FBDD36D0B}"/>
              </a:ext>
            </a:extLst>
          </p:cNvPr>
          <p:cNvSpPr txBox="1"/>
          <p:nvPr/>
        </p:nvSpPr>
        <p:spPr>
          <a:xfrm>
            <a:off x="43832" y="805049"/>
            <a:ext cx="4809148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IN" sz="2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 of components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Details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8" indent="-285750">
              <a:buFont typeface="Arial" panose="020B0604020202020204" pitchFamily="34" charset="0"/>
              <a:buChar char="•"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(CPU, GPU, RAM, PSU, SSD,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Model: (e.g., Intel i7-8700, RTX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3060)</a:t>
            </a: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(New, Used, Damaged, Repairable)</a:t>
            </a: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(Number of years since purchase)</a:t>
            </a:r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512" y="692727"/>
            <a:ext cx="4473870" cy="44127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1AE77922-3952-B6C8-7133-2C86AC95F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1548D3E4-2582-47F0-8E40-534728913D7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23850" y="150888"/>
            <a:ext cx="1200150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dirty="0">
                <a:latin typeface="Comfortaa"/>
                <a:ea typeface="Comfortaa"/>
                <a:cs typeface="Comfortaa"/>
                <a:sym typeface="Comfortaa"/>
              </a:rPr>
              <a:t>IPO</a:t>
            </a:r>
            <a:endParaRPr sz="28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7" name="Google Shape;87;p16">
            <a:extLst>
              <a:ext uri="{FF2B5EF4-FFF2-40B4-BE49-F238E27FC236}">
                <a16:creationId xmlns:a16="http://schemas.microsoft.com/office/drawing/2014/main" id="{074FABC9-FAE1-44B7-889E-263E8B920D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910A6A2B-59AE-9CF9-E6ED-598267F5A0A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303100" y="-12"/>
            <a:ext cx="45378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sz="11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23A62A-BBF4-93D8-D4A5-2018711B4047}"/>
              </a:ext>
            </a:extLst>
          </p:cNvPr>
          <p:cNvSpPr txBox="1"/>
          <p:nvPr/>
        </p:nvSpPr>
        <p:spPr>
          <a:xfrm>
            <a:off x="452582" y="598720"/>
            <a:ext cx="3286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Process: </a:t>
            </a:r>
            <a:r>
              <a:rPr lang="en-IN" dirty="0" smtClean="0"/>
              <a:t>Algorithms Service - 1 </a:t>
            </a:r>
            <a:endParaRPr lang="en-IN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52582" y="920299"/>
            <a:ext cx="8238836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16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Preprocessor (preprocessor.py)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Image preprocessing (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denoising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contrast adjustment)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Extract features if needed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Data augmentation (rotation, flipping, cropping</a:t>
            </a:r>
            <a:r>
              <a:rPr lang="en-US" alt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1600" b="1" dirty="0" err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Dataloader</a:t>
            </a:r>
            <a:r>
              <a:rPr lang="en-US" altLang="en-US" sz="16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(dataloader.py)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Load images &amp; labels (classification + count)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Apply transformations (resize, normalize, augment)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Create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 &amp; </a:t>
            </a:r>
            <a:r>
              <a:rPr lang="en-US" altLang="en-US" sz="1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DataLoader</a:t>
            </a: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Model (model.py)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Load pre-trained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Modify output layer for classification &amp; counting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Define loss function &amp; optimizer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Main (main.py)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Load dataset &amp; initialize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Train, validate, and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Save best model &amp; generate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1726" y="906497"/>
            <a:ext cx="3003599" cy="408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73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2DB0B022-F1F9-1049-598F-353E75502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C2678F96-6360-9D6C-8EE7-2B27AF59FBF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23850" y="150888"/>
            <a:ext cx="1200150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dirty="0">
                <a:latin typeface="Comfortaa"/>
                <a:ea typeface="Comfortaa"/>
                <a:cs typeface="Comfortaa"/>
                <a:sym typeface="Comfortaa"/>
              </a:rPr>
              <a:t>IPO</a:t>
            </a:r>
            <a:endParaRPr sz="28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7" name="Google Shape;87;p16">
            <a:extLst>
              <a:ext uri="{FF2B5EF4-FFF2-40B4-BE49-F238E27FC236}">
                <a16:creationId xmlns:a16="http://schemas.microsoft.com/office/drawing/2014/main" id="{99FB1AC1-B49F-F096-DB06-3C7D70870B0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54D8863F-2C69-3B79-708E-3596C53464A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303100" y="-12"/>
            <a:ext cx="45378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sz="11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7F01ED-0FB1-EFDC-41F6-DF4873BFBE2B}"/>
              </a:ext>
            </a:extLst>
          </p:cNvPr>
          <p:cNvSpPr txBox="1"/>
          <p:nvPr/>
        </p:nvSpPr>
        <p:spPr>
          <a:xfrm>
            <a:off x="323850" y="612911"/>
            <a:ext cx="3286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Process: Algorithms </a:t>
            </a:r>
            <a:r>
              <a:rPr lang="en-IN" dirty="0" smtClean="0"/>
              <a:t> Service- 2 (Profit analysis)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406400" y="1212850"/>
            <a:ext cx="760095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User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18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Component details (Type, Brand, Condition, Age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Market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r>
              <a:rPr lang="en-US" sz="18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Fetch resale prices, metal values, repair &amp; recycling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costs.</a:t>
            </a:r>
          </a:p>
          <a:p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Profit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r>
              <a:rPr lang="en-US" sz="18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  <a:p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Reuse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en-US" sz="18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Resale Price - (Repair + Logistics).</a:t>
            </a:r>
          </a:p>
          <a:p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Recycle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en-US" sz="18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Extracted Material Value - Processing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Cost.</a:t>
            </a:r>
          </a:p>
          <a:p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Decision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r>
              <a:rPr lang="en-US" sz="18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Suggest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Resale or Recycling</a:t>
            </a:r>
            <a:r>
              <a:rPr lang="en-US" sz="18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higher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profit.</a:t>
            </a:r>
          </a:p>
          <a:p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Prediction</a:t>
            </a:r>
            <a:r>
              <a:rPr lang="en-US" sz="18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Use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(ARIMA, LSTM)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trends.</a:t>
            </a:r>
          </a:p>
          <a:p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Final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18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Display best profitability option &amp; suggested action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Check </a:t>
            </a:r>
            <a:r>
              <a:rPr lang="en-IN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updated prices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scrapers and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find the current market price and update the model.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06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0C89E55F-D2AF-4A0C-DCDC-F822B39C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828BEA9F-1E3A-B0CE-7C32-F2329865530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23850" y="150888"/>
            <a:ext cx="1200150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dirty="0">
                <a:latin typeface="Comfortaa"/>
                <a:ea typeface="Comfortaa"/>
                <a:cs typeface="Comfortaa"/>
                <a:sym typeface="Comfortaa"/>
              </a:rPr>
              <a:t>IPO</a:t>
            </a:r>
            <a:endParaRPr sz="28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7" name="Google Shape;87;p16">
            <a:extLst>
              <a:ext uri="{FF2B5EF4-FFF2-40B4-BE49-F238E27FC236}">
                <a16:creationId xmlns:a16="http://schemas.microsoft.com/office/drawing/2014/main" id="{C923D598-B85A-A6A2-D738-B4D91DA8FC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1BAA487C-5A1C-D853-61BB-D0A08B2F2C5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303100" y="-12"/>
            <a:ext cx="45378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sz="11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EF7CE3-2AA1-E027-F8F1-08059D7592D5}"/>
              </a:ext>
            </a:extLst>
          </p:cNvPr>
          <p:cNvSpPr txBox="1"/>
          <p:nvPr/>
        </p:nvSpPr>
        <p:spPr>
          <a:xfrm>
            <a:off x="323850" y="612911"/>
            <a:ext cx="3286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Process: Algorithms </a:t>
            </a:r>
            <a:r>
              <a:rPr lang="en-IN" dirty="0" smtClean="0"/>
              <a:t>Service - 2 (MBA)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23850" y="1382711"/>
            <a:ext cx="85109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en-US" sz="18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Analyze past purchases &amp; frequently bought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Mining</a:t>
            </a:r>
            <a:r>
              <a:rPr lang="en-US" sz="18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Use </a:t>
            </a:r>
            <a:r>
              <a:rPr lang="en-US" sz="1800" b="1" dirty="0" err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Apriori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FP-Growth</a:t>
            </a:r>
            <a:r>
              <a:rPr lang="en-US" sz="18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best-selling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combos.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Lift Scores</a:t>
            </a:r>
            <a:r>
              <a:rPr lang="en-US" sz="18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Rank purchase trends.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r>
              <a:rPr lang="en-US" sz="18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Suggest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PC component bundles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buyers.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18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Show </a:t>
            </a:r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Frequently </a:t>
            </a:r>
            <a:r>
              <a:rPr lang="en-US" sz="18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Bought </a:t>
            </a:r>
            <a:r>
              <a:rPr lang="en-US" sz="1800" b="1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Together”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 table format.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7904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EBF7982B-0ADC-641B-5393-104EC9294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0756688B-D9BC-464A-F6EE-357829D35A2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23850" y="150888"/>
            <a:ext cx="1200150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dirty="0">
                <a:latin typeface="Comfortaa"/>
                <a:ea typeface="Comfortaa"/>
                <a:cs typeface="Comfortaa"/>
                <a:sym typeface="Comfortaa"/>
              </a:rPr>
              <a:t>IPO</a:t>
            </a:r>
            <a:endParaRPr sz="28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7" name="Google Shape;87;p16">
            <a:extLst>
              <a:ext uri="{FF2B5EF4-FFF2-40B4-BE49-F238E27FC236}">
                <a16:creationId xmlns:a16="http://schemas.microsoft.com/office/drawing/2014/main" id="{974DDF73-4F2D-38C4-68CE-61224837532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307216A7-70FF-3119-7556-DD4ADB23E3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303100" y="-12"/>
            <a:ext cx="45378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 dirty="0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sz="11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E89BB8-4821-6349-7D7B-8F0C7EB0F031}"/>
              </a:ext>
            </a:extLst>
          </p:cNvPr>
          <p:cNvSpPr txBox="1"/>
          <p:nvPr/>
        </p:nvSpPr>
        <p:spPr>
          <a:xfrm>
            <a:off x="923924" y="612911"/>
            <a:ext cx="3648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 Performance evaluation measure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848026"/>
              </p:ext>
            </p:extLst>
          </p:nvPr>
        </p:nvGraphicFramePr>
        <p:xfrm>
          <a:off x="411634" y="1175901"/>
          <a:ext cx="8521701" cy="3230880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3737757940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753880309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82094668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44788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 Prediction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how accurately the system predicts whether recycling or reusing is more profitable.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 the reliability of profitability predictions.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60855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(for Reuse/Recycle/Image classification)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the proportion of correctly predicted profitable reuse or recycle decisions.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 the accuracy of reuse vs. recycle decision-making.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52964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Confidence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Support Vector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(Market 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Basket Analysis)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how much more likely two components are bought together than expected by chance.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 the strength of association between items.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151628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 (Area Under ROC Curve)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the area under the Receiver Operating Characteristic curve.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 the trade-off between true positives and false positives in classification.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081590"/>
                  </a:ext>
                </a:extLst>
              </a:tr>
            </a:tbl>
          </a:graphicData>
        </a:graphic>
      </p:graphicFrame>
      <p:sp>
        <p:nvSpPr>
          <p:cNvPr id="12" name="Google Shape;85;p16">
            <a:extLst>
              <a:ext uri="{FF2B5EF4-FFF2-40B4-BE49-F238E27FC236}">
                <a16:creationId xmlns:a16="http://schemas.microsoft.com/office/drawing/2014/main" id="{0756688B-D9BC-464A-F6EE-357829D35A2B}"/>
              </a:ext>
            </a:extLst>
          </p:cNvPr>
          <p:cNvSpPr txBox="1">
            <a:spLocks/>
          </p:cNvSpPr>
          <p:nvPr/>
        </p:nvSpPr>
        <p:spPr>
          <a:xfrm>
            <a:off x="323849" y="150888"/>
            <a:ext cx="120015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en-GB" sz="2800" b="1" smtClean="0">
                <a:latin typeface="Comfortaa"/>
                <a:ea typeface="Comfortaa"/>
                <a:cs typeface="Comfortaa"/>
                <a:sym typeface="Comfortaa"/>
              </a:rPr>
              <a:t>IPO</a:t>
            </a:r>
            <a:endParaRPr lang="en-GB" sz="28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</p:spTree>
    <p:extLst>
      <p:ext uri="{BB962C8B-B14F-4D97-AF65-F5344CB8AC3E}">
        <p14:creationId xmlns:p14="http://schemas.microsoft.com/office/powerpoint/2010/main" val="116742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84944"/>
              </p:ext>
            </p:extLst>
          </p:nvPr>
        </p:nvGraphicFramePr>
        <p:xfrm>
          <a:off x="742950" y="1287225"/>
          <a:ext cx="7748589" cy="2417742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2582863">
                  <a:extLst>
                    <a:ext uri="{9D8B030D-6E8A-4147-A177-3AD203B41FA5}">
                      <a16:colId xmlns:a16="http://schemas.microsoft.com/office/drawing/2014/main" val="2522303793"/>
                    </a:ext>
                  </a:extLst>
                </a:gridCol>
                <a:gridCol w="2582863">
                  <a:extLst>
                    <a:ext uri="{9D8B030D-6E8A-4147-A177-3AD203B41FA5}">
                      <a16:colId xmlns:a16="http://schemas.microsoft.com/office/drawing/2014/main" val="185889060"/>
                    </a:ext>
                  </a:extLst>
                </a:gridCol>
                <a:gridCol w="2582863">
                  <a:extLst>
                    <a:ext uri="{9D8B030D-6E8A-4147-A177-3AD203B41FA5}">
                      <a16:colId xmlns:a16="http://schemas.microsoft.com/office/drawing/2014/main" val="1444493468"/>
                    </a:ext>
                  </a:extLst>
                </a:gridCol>
              </a:tblGrid>
              <a:tr h="437953">
                <a:tc>
                  <a:txBody>
                    <a:bodyPr/>
                    <a:lstStyle/>
                    <a:p>
                      <a:r>
                        <a:rPr lang="en-US" sz="14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748237"/>
                  </a:ext>
                </a:extLst>
              </a:tr>
              <a:tr h="1115881">
                <a:tc>
                  <a:txBody>
                    <a:bodyPr/>
                    <a:lstStyle/>
                    <a:p>
                      <a:r>
                        <a:rPr lang="en-US" dirty="0" smtClean="0"/>
                        <a:t>Processing Time (System Efficiency)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Time taken to process input data and generate results for profitability and market analysis.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Assess system performance and user experience.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506886"/>
                  </a:ext>
                </a:extLst>
              </a:tr>
              <a:tr h="863908">
                <a:tc>
                  <a:txBody>
                    <a:bodyPr/>
                    <a:lstStyle/>
                    <a:p>
                      <a:r>
                        <a:rPr lang="en-IN" dirty="0" smtClean="0"/>
                        <a:t>F1</a:t>
                      </a:r>
                      <a:r>
                        <a:rPr lang="en-IN" baseline="0" dirty="0" smtClean="0"/>
                        <a:t> score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Harmonic mean of precision and recall to provide a balanced measure.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Evaluate the balance between precision and recall.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779438"/>
                  </a:ext>
                </a:extLst>
              </a:tr>
            </a:tbl>
          </a:graphicData>
        </a:graphic>
      </p:graphicFrame>
      <p:pic>
        <p:nvPicPr>
          <p:cNvPr id="5" name="Google Shape;87;p16">
            <a:extLst>
              <a:ext uri="{FF2B5EF4-FFF2-40B4-BE49-F238E27FC236}">
                <a16:creationId xmlns:a16="http://schemas.microsoft.com/office/drawing/2014/main" id="{974DDF73-4F2D-38C4-68CE-61224837532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325" y="43575"/>
            <a:ext cx="4533900" cy="533400"/>
          </a:xfrm>
          <a:prstGeom prst="rect">
            <a:avLst/>
          </a:prstGeom>
        </p:spPr>
      </p:pic>
      <p:sp>
        <p:nvSpPr>
          <p:cNvPr id="8" name="Google Shape;85;p16">
            <a:extLst>
              <a:ext uri="{FF2B5EF4-FFF2-40B4-BE49-F238E27FC236}">
                <a16:creationId xmlns:a16="http://schemas.microsoft.com/office/drawing/2014/main" id="{0756688B-D9BC-464A-F6EE-357829D35A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829" y="169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en-GB" sz="2800" b="1" dirty="0" smtClean="0">
                <a:latin typeface="Comfortaa"/>
                <a:ea typeface="Comfortaa"/>
                <a:cs typeface="Comfortaa"/>
                <a:sym typeface="Comfortaa"/>
              </a:rPr>
              <a:t>IPO</a:t>
            </a:r>
            <a:endParaRPr lang="en-GB" sz="28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89BB8-4821-6349-7D7B-8F0C7EB0F031}"/>
              </a:ext>
            </a:extLst>
          </p:cNvPr>
          <p:cNvSpPr txBox="1"/>
          <p:nvPr/>
        </p:nvSpPr>
        <p:spPr>
          <a:xfrm>
            <a:off x="923924" y="612911"/>
            <a:ext cx="3648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 Performance evaluation measure</a:t>
            </a:r>
          </a:p>
        </p:txBody>
      </p:sp>
    </p:spTree>
    <p:extLst>
      <p:ext uri="{BB962C8B-B14F-4D97-AF65-F5344CB8AC3E}">
        <p14:creationId xmlns:p14="http://schemas.microsoft.com/office/powerpoint/2010/main" val="148175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C360078A-69B8-BFA4-BBF1-1DA48D0B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F03FC593-AB4F-CE8E-C97F-EC3D75EFFB9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30199" y="322474"/>
            <a:ext cx="3054351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dirty="0">
                <a:latin typeface="Comfortaa"/>
                <a:ea typeface="Comfortaa"/>
                <a:cs typeface="Comfortaa"/>
                <a:sym typeface="Comfortaa"/>
              </a:rPr>
              <a:t>Architecture Diagram</a:t>
            </a:r>
            <a:endParaRPr sz="28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7" name="Google Shape;87;p16">
            <a:extLst>
              <a:ext uri="{FF2B5EF4-FFF2-40B4-BE49-F238E27FC236}">
                <a16:creationId xmlns:a16="http://schemas.microsoft.com/office/drawing/2014/main" id="{CBC1F817-2B33-63F5-26EC-CC2C9A35CF5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CC105B02-E0FB-DA96-4711-66864883330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454450" y="10008"/>
            <a:ext cx="45378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sz="1100"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734" y="858274"/>
            <a:ext cx="8793236" cy="405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90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52CE9BC3-9C3C-5CA1-1955-20DEF85B4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10E375A4-C378-37E9-75DB-264C7E9C98E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14125" y="71075"/>
            <a:ext cx="1972901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dirty="0">
                <a:latin typeface="Comfortaa"/>
                <a:ea typeface="Comfortaa"/>
                <a:cs typeface="Comfortaa"/>
                <a:sym typeface="Comfortaa"/>
              </a:rPr>
              <a:t>Modules</a:t>
            </a:r>
            <a:endParaRPr sz="28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7" name="Google Shape;87;p16">
            <a:extLst>
              <a:ext uri="{FF2B5EF4-FFF2-40B4-BE49-F238E27FC236}">
                <a16:creationId xmlns:a16="http://schemas.microsoft.com/office/drawing/2014/main" id="{E1211340-4EFF-4DFD-4D4C-56C555818A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47368BA3-DBFF-6915-3CF5-9BD3EBAA1FF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303100" y="-12"/>
            <a:ext cx="45378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 dirty="0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sz="11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75" y="795658"/>
            <a:ext cx="8659702" cy="42047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02061" y="795658"/>
            <a:ext cx="1080198" cy="648119"/>
          </a:xfrm>
          <a:prstGeom prst="rect">
            <a:avLst/>
          </a:prstGeom>
          <a:solidFill>
            <a:srgbClr val="0D0D0D"/>
          </a:solidFill>
          <a:ln>
            <a:solidFill>
              <a:srgbClr val="0D0D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77235CED-29D7-9337-DA51-7DDAEBE0B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776905DB-8B28-A975-E139-CBDDCDF6142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14125" y="71075"/>
            <a:ext cx="1972901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dirty="0">
                <a:latin typeface="Comfortaa"/>
                <a:ea typeface="Comfortaa"/>
                <a:cs typeface="Comfortaa"/>
                <a:sym typeface="Comfortaa"/>
              </a:rPr>
              <a:t>Modules</a:t>
            </a:r>
            <a:endParaRPr sz="28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7" name="Google Shape;87;p16">
            <a:extLst>
              <a:ext uri="{FF2B5EF4-FFF2-40B4-BE49-F238E27FC236}">
                <a16:creationId xmlns:a16="http://schemas.microsoft.com/office/drawing/2014/main" id="{31D364C0-EA8A-EFEA-A732-EA64611DE62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C312CD39-0979-888A-5BF6-E0EABAC2EAD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303100" y="-12"/>
            <a:ext cx="45378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 dirty="0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sz="11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1A1BEA68-D0ED-28EB-E2D3-2AF4210E2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1057201"/>
            <a:ext cx="8382625" cy="1800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457200" algn="just">
              <a:lnSpc>
                <a:spcPct val="150000"/>
              </a:lnSpc>
              <a:buFont typeface="+mj-lt"/>
              <a:buAutoNum type="arabicPeriod" startAt="11"/>
            </a:pPr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Utilities</a:t>
            </a:r>
          </a:p>
          <a:p>
            <a:pPr marL="9398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b="1" dirty="0">
                <a:solidFill>
                  <a:schemeClr val="tx1"/>
                </a:solidFill>
              </a:rPr>
              <a:t>Pure-Eval: </a:t>
            </a:r>
            <a:r>
              <a:rPr lang="en-US" dirty="0">
                <a:solidFill>
                  <a:schemeClr val="tx1"/>
                </a:solidFill>
              </a:rPr>
              <a:t>For evaluation (used indirectly via </a:t>
            </a:r>
            <a:r>
              <a:rPr lang="en-US" dirty="0" err="1">
                <a:solidFill>
                  <a:schemeClr val="tx1"/>
                </a:solidFill>
              </a:rPr>
              <a:t>ipython</a:t>
            </a:r>
            <a:r>
              <a:rPr lang="en-US" dirty="0">
                <a:solidFill>
                  <a:schemeClr val="tx1"/>
                </a:solidFill>
              </a:rPr>
              <a:t>). </a:t>
            </a:r>
          </a:p>
          <a:p>
            <a:pPr marL="9398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b="1" dirty="0">
                <a:solidFill>
                  <a:schemeClr val="tx1"/>
                </a:solidFill>
              </a:rPr>
              <a:t>Markdown-It-</a:t>
            </a:r>
            <a:r>
              <a:rPr lang="en-US" b="1" dirty="0" err="1">
                <a:solidFill>
                  <a:schemeClr val="tx1"/>
                </a:solidFill>
              </a:rPr>
              <a:t>Py</a:t>
            </a:r>
            <a:r>
              <a:rPr lang="en-US" b="1" dirty="0">
                <a:solidFill>
                  <a:schemeClr val="tx1"/>
                </a:solidFill>
              </a:rPr>
              <a:t> : </a:t>
            </a:r>
            <a:r>
              <a:rPr lang="en-US" dirty="0">
                <a:solidFill>
                  <a:schemeClr val="tx1"/>
                </a:solidFill>
              </a:rPr>
              <a:t>For markdown processing. </a:t>
            </a:r>
          </a:p>
          <a:p>
            <a:pPr marL="9398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b="1" dirty="0" err="1">
                <a:solidFill>
                  <a:schemeClr val="tx1"/>
                </a:solidFill>
              </a:rPr>
              <a:t>Pygments</a:t>
            </a:r>
            <a:r>
              <a:rPr lang="en-US" b="1" dirty="0">
                <a:solidFill>
                  <a:schemeClr val="tx1"/>
                </a:solidFill>
              </a:rPr>
              <a:t> : </a:t>
            </a:r>
            <a:r>
              <a:rPr lang="en-US" dirty="0">
                <a:solidFill>
                  <a:schemeClr val="tx1"/>
                </a:solidFill>
              </a:rPr>
              <a:t>For syntax highlighting. </a:t>
            </a:r>
          </a:p>
          <a:p>
            <a:pPr marL="9398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b="1" dirty="0" err="1">
                <a:solidFill>
                  <a:schemeClr val="tx1"/>
                </a:solidFill>
              </a:rPr>
              <a:t>Threadpoolctl</a:t>
            </a:r>
            <a:r>
              <a:rPr lang="en-US" b="1" dirty="0">
                <a:solidFill>
                  <a:schemeClr val="tx1"/>
                </a:solidFill>
              </a:rPr>
              <a:t> : </a:t>
            </a:r>
            <a:r>
              <a:rPr lang="en-US" dirty="0">
                <a:solidFill>
                  <a:schemeClr val="tx1"/>
                </a:solidFill>
              </a:rPr>
              <a:t>For thread pool control.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08" y="914400"/>
            <a:ext cx="8686801" cy="382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6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1F6993F7-B4E2-232B-4852-4AC8F69E2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04AF0093-6629-A9FD-7E55-CF711B6ADB9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30199" y="322474"/>
            <a:ext cx="1972901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dirty="0">
                <a:latin typeface="Comfortaa"/>
                <a:ea typeface="Comfortaa"/>
                <a:cs typeface="Comfortaa"/>
                <a:sym typeface="Comfortaa"/>
              </a:rPr>
              <a:t>Software</a:t>
            </a:r>
            <a:endParaRPr sz="28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7" name="Google Shape;87;p16">
            <a:extLst>
              <a:ext uri="{FF2B5EF4-FFF2-40B4-BE49-F238E27FC236}">
                <a16:creationId xmlns:a16="http://schemas.microsoft.com/office/drawing/2014/main" id="{7F542C21-84CB-5488-3A5A-772F5D35FE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FA68CCC5-865F-FBE9-9763-A077F44CF00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303100" y="-12"/>
            <a:ext cx="45378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sz="11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30199" y="901644"/>
            <a:ext cx="757283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Programming Language: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59595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Python,</a:t>
            </a:r>
            <a:r>
              <a:rPr kumimoji="0" lang="en-US" altLang="en-US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go (Optional)</a:t>
            </a:r>
            <a:endParaRPr kumimoji="0" lang="en-US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Data Handling &amp; Analysis: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59595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Pandas, </a:t>
            </a:r>
            <a:r>
              <a:rPr kumimoji="0" lang="en-US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kumimoji="0" lang="en-US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-learn (for market basket analysis)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Deep Learning Libraries: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59595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</a:t>
            </a:r>
            <a:r>
              <a:rPr kumimoji="0" lang="en-US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Image Processing: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59595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Pillow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Market Basket Analysis: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59595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mlxtend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Apriori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algorithm)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Web Interface: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59595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/HTMX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Database/Storage: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59595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SQLite / MySQL / PostgreSQL / MongoDB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 Version Control: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59595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59595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(GitHub,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Bitbucket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595959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41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67274193-68C8-9B6C-0DC9-A788F5F3C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5430C057-FD08-A45A-075C-98C889EA339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78500" y="465031"/>
            <a:ext cx="37465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dirty="0">
                <a:latin typeface="Comfortaa"/>
                <a:ea typeface="Comfortaa"/>
                <a:cs typeface="Comfortaa"/>
                <a:sym typeface="Comfortaa"/>
              </a:rPr>
              <a:t>Front End Design</a:t>
            </a:r>
            <a:endParaRPr sz="28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7" name="Google Shape;87;p16">
            <a:extLst>
              <a:ext uri="{FF2B5EF4-FFF2-40B4-BE49-F238E27FC236}">
                <a16:creationId xmlns:a16="http://schemas.microsoft.com/office/drawing/2014/main" id="{86A26F5A-9534-FCCB-8177-617C4B6F4F0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3E4CC6D9-DA96-02C4-2665-5973267EDD9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303100" y="-12"/>
            <a:ext cx="45378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sz="1100"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09" y="1303332"/>
            <a:ext cx="3943559" cy="33691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774" y="1303333"/>
            <a:ext cx="4118778" cy="336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9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>
            <a:spLocks noGrp="1"/>
          </p:cNvSpPr>
          <p:nvPr>
            <p:ph type="subTitle" idx="4294967295"/>
          </p:nvPr>
        </p:nvSpPr>
        <p:spPr>
          <a:xfrm>
            <a:off x="185800" y="350650"/>
            <a:ext cx="3666300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dirty="0">
                <a:latin typeface="Comfortaa"/>
                <a:ea typeface="Comfortaa"/>
                <a:cs typeface="Comfortaa"/>
                <a:sym typeface="Comfortaa"/>
              </a:rPr>
              <a:t>Reference</a:t>
            </a:r>
          </a:p>
        </p:txBody>
      </p:sp>
      <p:sp>
        <p:nvSpPr>
          <p:cNvPr id="119" name="Google Shape;119;p19"/>
          <p:cNvSpPr txBox="1">
            <a:spLocks noGrp="1"/>
          </p:cNvSpPr>
          <p:nvPr>
            <p:ph type="subTitle" idx="4294967295"/>
          </p:nvPr>
        </p:nvSpPr>
        <p:spPr>
          <a:xfrm>
            <a:off x="0" y="1008914"/>
            <a:ext cx="8449299" cy="418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+mj-lt"/>
              <a:buAutoNum type="arabicPeriod"/>
            </a:pPr>
            <a:r>
              <a:rPr lang="en-US" sz="1400" dirty="0" err="1"/>
              <a:t>Abou</a:t>
            </a:r>
            <a:r>
              <a:rPr lang="en-US" sz="1400" dirty="0"/>
              <a:t> Baker, N., </a:t>
            </a:r>
            <a:r>
              <a:rPr lang="en-US" sz="1400" dirty="0" err="1"/>
              <a:t>Stehr</a:t>
            </a:r>
            <a:r>
              <a:rPr lang="en-US" sz="1400" dirty="0"/>
              <a:t>, J., &amp; </a:t>
            </a:r>
            <a:r>
              <a:rPr lang="en-US" sz="1400" dirty="0" err="1"/>
              <a:t>Handmann</a:t>
            </a:r>
            <a:r>
              <a:rPr lang="en-US" sz="1400" dirty="0"/>
              <a:t>, U. (2022). Transfer learning approach towards a smarter recycling. </a:t>
            </a:r>
            <a:r>
              <a:rPr lang="en-US" sz="1400" i="1" dirty="0"/>
              <a:t>Neural Computing and Applications</a:t>
            </a:r>
            <a:r>
              <a:rPr lang="en-US" sz="1400" dirty="0"/>
              <a:t>, </a:t>
            </a:r>
            <a:r>
              <a:rPr lang="en-US" sz="1400" i="1" dirty="0"/>
              <a:t>34</a:t>
            </a:r>
            <a:r>
              <a:rPr lang="en-US" sz="1400" dirty="0"/>
              <a:t>(Issue), 12345–12360</a:t>
            </a:r>
          </a:p>
          <a:p>
            <a:pPr lvl="0">
              <a:buFont typeface="+mj-lt"/>
              <a:buAutoNum type="arabicPeriod"/>
            </a:pPr>
            <a:r>
              <a:rPr lang="en-US" sz="1400" dirty="0"/>
              <a:t>Li, </a:t>
            </a:r>
            <a:r>
              <a:rPr lang="en-US" sz="1400" dirty="0" err="1"/>
              <a:t>Haomiao</a:t>
            </a:r>
            <a:r>
              <a:rPr lang="en-US" sz="1400" dirty="0"/>
              <a:t>, </a:t>
            </a:r>
            <a:r>
              <a:rPr lang="en-US" sz="1400" dirty="0" err="1"/>
              <a:t>Zian</a:t>
            </a:r>
            <a:r>
              <a:rPr lang="en-US" sz="1400" dirty="0"/>
              <a:t> </a:t>
            </a:r>
            <a:r>
              <a:rPr lang="en-US" sz="1400" dirty="0" err="1"/>
              <a:t>Jin</a:t>
            </a:r>
            <a:r>
              <a:rPr lang="en-US" sz="1400" dirty="0"/>
              <a:t>, and Sujatha </a:t>
            </a:r>
            <a:r>
              <a:rPr lang="en-US" sz="1400" dirty="0" err="1"/>
              <a:t>Krishnamoorthy</a:t>
            </a:r>
            <a:r>
              <a:rPr lang="en-US" sz="1400" dirty="0"/>
              <a:t>. "E-waste management using machine learning." Proceedings of the 6th International Conference on Big Data and Computing. 2021.</a:t>
            </a:r>
          </a:p>
          <a:p>
            <a:pPr lvl="0">
              <a:buFont typeface="+mj-lt"/>
              <a:buAutoNum type="arabicPeriod"/>
            </a:pPr>
            <a:r>
              <a:rPr lang="en-US" sz="1400" dirty="0" err="1"/>
              <a:t>Abou</a:t>
            </a:r>
            <a:r>
              <a:rPr lang="en-US" sz="1400" dirty="0"/>
              <a:t> Baker, </a:t>
            </a:r>
            <a:r>
              <a:rPr lang="en-US" sz="1400" dirty="0" err="1"/>
              <a:t>Nermeen</a:t>
            </a:r>
            <a:r>
              <a:rPr lang="en-US" sz="1400" dirty="0"/>
              <a:t>, Paul Szabo-Müller, and Uwe </a:t>
            </a:r>
            <a:r>
              <a:rPr lang="en-US" sz="1400" dirty="0" err="1"/>
              <a:t>Handmann</a:t>
            </a:r>
            <a:r>
              <a:rPr lang="en-US" sz="1400" dirty="0"/>
              <a:t>. "Transfer learning-based method for automated e-waste recycling in smart cities." EAI endorsed transactions on smart cities 5.16 (2021): e1-e1.</a:t>
            </a:r>
          </a:p>
          <a:p>
            <a:pPr lvl="0">
              <a:buFont typeface="+mj-lt"/>
              <a:buAutoNum type="arabicPeriod"/>
            </a:pPr>
            <a:r>
              <a:rPr lang="en-US" sz="1400" dirty="0" err="1"/>
              <a:t>Sarkhoshkalat</a:t>
            </a:r>
            <a:r>
              <a:rPr lang="en-US" sz="1400" dirty="0"/>
              <a:t>, Mohammad Mahdi, et al. "Circular Economy and the Recycling of E-Waste." New Technologies for Energy Transition Based on Sustainable Development Goals: Factors Contributing to Global Warming. Singapore: Springer Nature Singapore, 2024. 319-354.</a:t>
            </a:r>
          </a:p>
          <a:p>
            <a:pPr lvl="0">
              <a:buFont typeface="+mj-lt"/>
              <a:buAutoNum type="arabicPeriod"/>
            </a:pPr>
            <a:r>
              <a:rPr lang="en-US" sz="1400" dirty="0"/>
              <a:t>Russo, Giorgio L. "Integrated Management of Electronic and Electric Waste (EEW) with the Application of Artificial Intelligence (AI): Future and Challenges." Advanced Technologies for Solid, Liquid, and Gas Waste Treatment. CRC Press, 2023. 23-40.</a:t>
            </a:r>
          </a:p>
          <a:p>
            <a:pPr marL="114300" indent="0" algn="just">
              <a:lnSpc>
                <a:spcPct val="115000"/>
              </a:lnSpc>
              <a:spcAft>
                <a:spcPts val="800"/>
              </a:spcAft>
              <a:buNone/>
            </a:pPr>
            <a:endParaRPr lang="en-IN" sz="14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>
            <a:spLocks noGrp="1"/>
          </p:cNvSpPr>
          <p:nvPr>
            <p:ph type="subTitle" idx="4294967295"/>
          </p:nvPr>
        </p:nvSpPr>
        <p:spPr>
          <a:xfrm>
            <a:off x="2303100" y="-12"/>
            <a:ext cx="45378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sz="1100" b="1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A0A242F9-6928-8AD2-1B7A-9770DFA7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>
            <a:extLst>
              <a:ext uri="{FF2B5EF4-FFF2-40B4-BE49-F238E27FC236}">
                <a16:creationId xmlns:a16="http://schemas.microsoft.com/office/drawing/2014/main" id="{9E8374C1-6D50-6994-BB71-0C0A965B129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5800" y="350650"/>
            <a:ext cx="3666300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dirty="0">
                <a:latin typeface="Comfortaa"/>
                <a:ea typeface="Comfortaa"/>
                <a:cs typeface="Comfortaa"/>
                <a:sym typeface="Comfortaa"/>
              </a:rPr>
              <a:t>Reference</a:t>
            </a:r>
          </a:p>
        </p:txBody>
      </p:sp>
      <p:sp>
        <p:nvSpPr>
          <p:cNvPr id="119" name="Google Shape;119;p19">
            <a:extLst>
              <a:ext uri="{FF2B5EF4-FFF2-40B4-BE49-F238E27FC236}">
                <a16:creationId xmlns:a16="http://schemas.microsoft.com/office/drawing/2014/main" id="{A3CF160D-BC9B-A442-5E4C-750E94AA984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5582" y="957525"/>
            <a:ext cx="8733682" cy="418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+mj-lt"/>
              <a:buAutoNum type="arabicPeriod" startAt="6"/>
            </a:pPr>
            <a:r>
              <a:rPr lang="en-US" sz="1600" dirty="0" err="1"/>
              <a:t>Selvakanmani</a:t>
            </a:r>
            <a:r>
              <a:rPr lang="en-US" sz="1600" dirty="0"/>
              <a:t>, S., et al. "Optimizing E-waste management: Deep learning classifiers for effective planning." Journal of Cleaner Production 443 (2024): 141021.</a:t>
            </a:r>
          </a:p>
          <a:p>
            <a:pPr lvl="0">
              <a:buFont typeface="+mj-lt"/>
              <a:buAutoNum type="arabicPeriod" startAt="6"/>
            </a:pPr>
            <a:r>
              <a:rPr lang="en-US" sz="1600" dirty="0" err="1"/>
              <a:t>Moradi</a:t>
            </a:r>
            <a:r>
              <a:rPr lang="en-US" sz="1600" dirty="0"/>
              <a:t>, Rosita, et al. "Sustainable resilient E-waste management in London: A circular economy perspective." </a:t>
            </a:r>
            <a:r>
              <a:rPr lang="en-US" sz="1600" dirty="0" err="1"/>
              <a:t>Heliyon</a:t>
            </a:r>
            <a:r>
              <a:rPr lang="en-US" sz="1600" dirty="0"/>
              <a:t> 10.13 (2024).</a:t>
            </a:r>
          </a:p>
          <a:p>
            <a:pPr lvl="0">
              <a:buFont typeface="+mj-lt"/>
              <a:buAutoNum type="arabicPeriod" startAt="6"/>
            </a:pPr>
            <a:r>
              <a:rPr lang="en-US" sz="1600" dirty="0"/>
              <a:t>Oise, Godfrey </a:t>
            </a:r>
            <a:r>
              <a:rPr lang="en-US" sz="1600" dirty="0" err="1"/>
              <a:t>Perfectson</a:t>
            </a:r>
            <a:r>
              <a:rPr lang="en-US" sz="1600" dirty="0"/>
              <a:t>, and Susan </a:t>
            </a:r>
            <a:r>
              <a:rPr lang="en-US" sz="1600" dirty="0" err="1"/>
              <a:t>Konyeha</a:t>
            </a:r>
            <a:r>
              <a:rPr lang="en-US" sz="1600" dirty="0"/>
              <a:t>. "Deep learning system for e-waste management." Engineering Proceedings 67.1 (2024): 66.</a:t>
            </a:r>
          </a:p>
          <a:p>
            <a:pPr lvl="0">
              <a:buFont typeface="+mj-lt"/>
              <a:buAutoNum type="arabicPeriod" startAt="6"/>
            </a:pPr>
            <a:r>
              <a:rPr lang="en-US" sz="1600" dirty="0"/>
              <a:t>BAYDOĞAN, </a:t>
            </a:r>
            <a:r>
              <a:rPr lang="en-US" sz="1600" dirty="0" err="1"/>
              <a:t>Merve</a:t>
            </a:r>
            <a:r>
              <a:rPr lang="en-US" sz="1600" dirty="0"/>
              <a:t> PARLAK. "Deep Learning-Based Approaches for Electronic Waste Detection and Classification: A Step Toward Sustainable Recycling." JOURNAL OF MATERIALS AND ELECTRONIC DEVICES 5.1 (2024): 49-54.</a:t>
            </a:r>
          </a:p>
          <a:p>
            <a:pPr lvl="0">
              <a:buFont typeface="+mj-lt"/>
              <a:buAutoNum type="arabicPeriod" startAt="6"/>
            </a:pPr>
            <a:r>
              <a:rPr lang="en-US" sz="1600" dirty="0"/>
              <a:t>Singh, </a:t>
            </a:r>
            <a:r>
              <a:rPr lang="en-US" sz="1600" dirty="0" err="1"/>
              <a:t>Rahulkumar</a:t>
            </a:r>
            <a:r>
              <a:rPr lang="en-US" sz="1600" dirty="0"/>
              <a:t> Sunil, et al. "Identification and Separation of E‐Waste Components Using Modified Image Recognition Model Based on Advanced Deep Learning Tools." Technology Innovation for the Circular Economy: Recycling, Remanufacturing, Design, Systems Analysis and Logistics (2024): 115-127.</a:t>
            </a:r>
          </a:p>
          <a:p>
            <a:pPr marL="114300" indent="0" algn="just">
              <a:lnSpc>
                <a:spcPct val="115000"/>
              </a:lnSpc>
              <a:spcAft>
                <a:spcPts val="800"/>
              </a:spcAft>
              <a:buNone/>
            </a:pPr>
            <a:endParaRPr lang="en-IN" sz="1400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4" name="Google Shape;124;p19">
            <a:extLst>
              <a:ext uri="{FF2B5EF4-FFF2-40B4-BE49-F238E27FC236}">
                <a16:creationId xmlns:a16="http://schemas.microsoft.com/office/drawing/2014/main" id="{85B49C65-8FC9-43EC-3B56-7F496A13AE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0" y="71075"/>
            <a:ext cx="2073075" cy="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B8A6554B-EDF5-745B-D002-62068959A2A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303100" y="-12"/>
            <a:ext cx="45378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b="1">
                <a:latin typeface="Comfortaa"/>
                <a:ea typeface="Comfortaa"/>
                <a:cs typeface="Comfortaa"/>
                <a:sym typeface="Comfortaa"/>
              </a:rPr>
              <a:t>DEPARTMENT OF COMPUTER SCIENCE AND ENGINEERING</a:t>
            </a:r>
            <a:endParaRPr sz="1100" b="1">
              <a:latin typeface="Comfortaa"/>
              <a:ea typeface="Comfortaa"/>
              <a:cs typeface="Comfortaa"/>
              <a:sym typeface="Comfortaa"/>
            </a:endParaRPr>
          </a:p>
        </p:txBody>
      </p:sp>
    </p:spTree>
    <p:extLst>
      <p:ext uri="{BB962C8B-B14F-4D97-AF65-F5344CB8AC3E}">
        <p14:creationId xmlns:p14="http://schemas.microsoft.com/office/powerpoint/2010/main" val="402251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3491</TotalTime>
  <Words>1506</Words>
  <Application>Microsoft Office PowerPoint</Application>
  <PresentationFormat>On-screen Show (16:9)</PresentationFormat>
  <Paragraphs>177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Aptos</vt:lpstr>
      <vt:lpstr>Times New Roman</vt:lpstr>
      <vt:lpstr>Comfortaa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IPO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Farhan M</dc:creator>
  <cp:lastModifiedBy>akshay prasad</cp:lastModifiedBy>
  <cp:revision>35</cp:revision>
  <cp:lastPrinted>2025-02-03T19:05:24Z</cp:lastPrinted>
  <dcterms:modified xsi:type="dcterms:W3CDTF">2025-02-04T17:18:19Z</dcterms:modified>
</cp:coreProperties>
</file>